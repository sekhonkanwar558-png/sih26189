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29184" y="1874519"/>
            <a:ext cx="5577840" cy="4754880"/>
          </a:xfrm>
          <a:prstGeom prst="rect">
            <a:avLst/>
          </a:prstGeom>
          <a:noFill/>
        </p:spPr>
        <p:txBody>
          <a:bodyPr wrap="square" rtlCol="0">
            <a:spAutoFit/>
          </a:bodyPr>
          <a:lstStyle/>
          <a:p>
            <a:pPr>
              <a:spcAft>
                <a:spcPts val="800"/>
              </a:spcAft>
            </a:pPr>
            <a:r>
              <a:rPr sz="1700" b="1">
                <a:latin typeface="Arial"/>
              </a:rPr>
              <a:t>Problem Statement ID – </a:t>
            </a:r>
            <a:r>
              <a:rPr sz="1700" b="0">
                <a:latin typeface="Arial"/>
              </a:rPr>
              <a:t>26189</a:t>
            </a:r>
            <a:endParaRPr lang="en-US" dirty="0"/>
          </a:p>
          <a:p>
            <a:pPr>
              <a:spcAft>
                <a:spcPts val="800"/>
              </a:spcAft>
            </a:pPr>
            <a:r>
              <a:rPr sz="1700" b="1">
                <a:latin typeface="Arial"/>
              </a:rPr>
              <a:t>Problem Statement Title- </a:t>
            </a:r>
            <a:r>
              <a:rPr sz="1700" b="0">
                <a:latin typeface="Arial"/>
              </a:rPr>
              <a:t>AI-Powered Criminal Network Analysis System</a:t>
            </a:r>
          </a:p>
          <a:p>
            <a:pPr>
              <a:spcAft>
                <a:spcPts val="800"/>
              </a:spcAft>
            </a:pPr>
            <a:r>
              <a:rPr sz="1700" b="1">
                <a:latin typeface="Arial"/>
              </a:rPr>
              <a:t>Theme- </a:t>
            </a:r>
            <a:r>
              <a:rPr sz="1700" b="0">
                <a:latin typeface="Arial"/>
              </a:rPr>
              <a:t>Blockchain &amp; Cybersecurity</a:t>
            </a:r>
          </a:p>
          <a:p>
            <a:pPr>
              <a:spcAft>
                <a:spcPts val="800"/>
              </a:spcAft>
            </a:pPr>
            <a:r>
              <a:rPr sz="1700" b="1">
                <a:latin typeface="Arial"/>
              </a:rPr>
              <a:t>PS Category- </a:t>
            </a:r>
            <a:r>
              <a:rPr sz="1700" b="0">
                <a:latin typeface="Arial"/>
              </a:rPr>
              <a:t>Software</a:t>
            </a:r>
          </a:p>
          <a:p>
            <a:pPr>
              <a:spcAft>
                <a:spcPts val="800"/>
              </a:spcAft>
            </a:pPr>
            <a:r>
              <a:rPr sz="1700" b="1">
                <a:latin typeface="Arial"/>
              </a:rPr>
              <a:t>Team ID- </a:t>
            </a:r>
          </a:p>
          <a:p>
            <a:pPr>
              <a:spcAft>
                <a:spcPts val="800"/>
              </a:spcAft>
            </a:pPr>
            <a:r>
              <a:rPr sz="1700" b="1">
                <a:latin typeface="Arial"/>
              </a:rPr>
              <a:t>Team Name (Registered on portal)- </a:t>
            </a:r>
            <a:r>
              <a:rPr sz="1700" b="0">
                <a:latin typeface="Arial"/>
              </a:rPr>
              <a:t>Suishōdama</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IDEA TITLE</a:t>
            </a:r>
          </a:p>
        </p:txBody>
      </p:sp>
      <p:sp>
        <p:nvSpPr>
          <p:cNvPr id="15362" name="TextBox 8"/>
          <p:cNvSpPr txBox="1">
            <a:spLocks noChangeArrowheads="1"/>
          </p:cNvSpPr>
          <p:nvPr/>
        </p:nvSpPr>
        <p:spPr bwMode="auto">
          <a:xfrm>
            <a:off x="502920" y="1170432"/>
            <a:ext cx="11201400" cy="530352"/>
          </a:xfrm>
          <a:prstGeom prst="rect">
            <a:avLst/>
          </a:prstGeom>
          <a:noFill/>
          <a:ln w="9525">
            <a:noFill/>
            <a:miter lim="800000"/>
            <a:headEnd/>
            <a:tailEnd/>
          </a:ln>
        </p:spPr>
        <p:txBody>
          <a:bodyPr wrap="square" lIns="36576" rIns="36576" tIns="18288" bIns="18288">
            <a:spAutoFit/>
          </a:bodyPr>
          <a:lstStyle/>
          <a:p>
            <a:pPr marL="0" indent="0" algn="l">
              <a:spcBef>
                <a:spcPts val="0"/>
              </a:spcBef>
              <a:spcAft>
                <a:spcPts val="100"/>
              </a:spcAft>
              <a:buFont typeface="Wingdings" panose="05000000000000000000" pitchFamily="2" charset="2"/>
              <a:buNone/>
            </a:pPr>
            <a:r>
              <a:rPr sz="1500" b="1">
                <a:solidFill>
                  <a:srgbClr val="1F3864"/>
                </a:solidFill>
                <a:latin typeface="Arial"/>
              </a:rPr>
              <a:t>Suishōdama — a per-case investigative agent that reasons over the case's own knowledge graph, not a context window.</a:t>
            </a:r>
            <a:endParaRPr lang="en-US" sz="3200" u="sng" dirty="0">
              <a:solidFill>
                <a:schemeClr val="tx2"/>
              </a:solidFill>
              <a:latin typeface="Arial" pitchFamily="34" charset="0"/>
              <a:cs typeface="Arial" pitchFamily="34"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900" b="1">
                <a:latin typeface="Arial"/>
              </a:rPr>
              <a:t>Suishōdama</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3" name="TextBox 15362"/>
          <p:cNvSpPr txBox="1"/>
          <p:nvPr/>
        </p:nvSpPr>
        <p:spPr>
          <a:xfrm>
            <a:off x="502920" y="1792224"/>
            <a:ext cx="5897880" cy="4498848"/>
          </a:xfrm>
          <a:prstGeom prst="rect">
            <a:avLst/>
          </a:prstGeom>
          <a:noFill/>
        </p:spPr>
        <p:txBody>
          <a:bodyPr wrap="square" lIns="36576" rIns="36576" tIns="18288" bIns="18288">
            <a:spAutoFit/>
          </a:bodyPr>
          <a:lstStyle/>
          <a:p>
            <a:pPr algn="l" marL="0" indent="0">
              <a:spcBef>
                <a:spcPts val="800"/>
              </a:spcBef>
              <a:spcAft>
                <a:spcPts val="100"/>
              </a:spcAft>
              <a:buNone/>
            </a:pPr>
            <a:r>
              <a:rPr sz="1450" b="1">
                <a:solidFill>
                  <a:srgbClr val="1F3864"/>
                </a:solidFill>
                <a:latin typeface="Arial"/>
              </a:rPr>
              <a:t>Proposed Solution (Describe your Idea/Solution/Prototype)</a:t>
            </a:r>
          </a:p>
          <a:p>
            <a:pPr algn="l" marL="91440" indent="0">
              <a:spcBef>
                <a:spcPts val="700"/>
              </a:spcBef>
              <a:spcAft>
                <a:spcPts val="100"/>
              </a:spcAft>
              <a:buNone/>
            </a:pPr>
            <a:r>
              <a:rPr sz="1250" b="1">
                <a:solidFill>
                  <a:srgbClr val="3D3D3D"/>
                </a:solidFill>
                <a:latin typeface="Arial"/>
              </a:rPr>
              <a:t>Detailed explanation of the proposed solution</a:t>
            </a:r>
          </a:p>
          <a:p>
            <a:pPr lvl="1" algn="l" marL="237744" indent="0">
              <a:spcBef>
                <a:spcPts val="300"/>
              </a:spcBef>
              <a:spcAft>
                <a:spcPts val="100"/>
              </a:spcAft>
              <a:buNone/>
            </a:pPr>
            <a:r>
              <a:rPr sz="1100" b="0">
                <a:solidFill>
                  <a:srgbClr val="1A1A1A"/>
                </a:solidFill>
                <a:latin typeface="Arial"/>
              </a:rPr>
              <a:t>—  An officer opens a case, and that case gets an agent of its own — its own knowledge graph, analytics, memory and hash-chained chain of custody, in its own file on disk.</a:t>
            </a:r>
          </a:p>
          <a:p>
            <a:pPr lvl="1" algn="l" marL="237744" indent="0">
              <a:spcBef>
                <a:spcPts val="300"/>
              </a:spcBef>
              <a:spcAft>
                <a:spcPts val="100"/>
              </a:spcAft>
              <a:buNone/>
            </a:pPr>
            <a:r>
              <a:rPr sz="1100" b="0">
                <a:solidFill>
                  <a:srgbClr val="1A1A1A"/>
                </a:solidFill>
                <a:latin typeface="Arial"/>
              </a:rPr>
              <a:t>—  He drops in FIRs, CDRs, bank statements, surveillance logs, social exports, criminal history and intelligence reports — extracted deterministically, with no model anywhere in the ingest path.</a:t>
            </a:r>
          </a:p>
          <a:p>
            <a:pPr lvl="1" algn="l" marL="237744" indent="0">
              <a:spcBef>
                <a:spcPts val="300"/>
              </a:spcBef>
              <a:spcAft>
                <a:spcPts val="100"/>
              </a:spcAft>
              <a:buNone/>
            </a:pPr>
            <a:r>
              <a:rPr sz="1100" b="0">
                <a:solidFill>
                  <a:srgbClr val="1A1A1A"/>
                </a:solidFill>
                <a:latin typeface="Arial"/>
              </a:rPr>
              <a:t>—  He asks in English. The answer arrives with the route through the graph lit hop by hop, and every claim traceable to the character offset in the document it was read out of.</a:t>
            </a:r>
          </a:p>
          <a:p>
            <a:pPr algn="l" marL="91440" indent="0">
              <a:spcBef>
                <a:spcPts val="700"/>
              </a:spcBef>
              <a:spcAft>
                <a:spcPts val="100"/>
              </a:spcAft>
              <a:buNone/>
            </a:pPr>
            <a:r>
              <a:rPr sz="1250" b="1">
                <a:solidFill>
                  <a:srgbClr val="3D3D3D"/>
                </a:solidFill>
                <a:latin typeface="Arial"/>
              </a:rPr>
              <a:t>How it addresses the problem</a:t>
            </a:r>
          </a:p>
          <a:p>
            <a:pPr lvl="1" algn="l" marL="237744" indent="0">
              <a:spcBef>
                <a:spcPts val="300"/>
              </a:spcBef>
              <a:spcAft>
                <a:spcPts val="100"/>
              </a:spcAft>
              <a:buNone/>
            </a:pPr>
            <a:r>
              <a:rPr sz="1100" b="0">
                <a:solidFill>
                  <a:srgbClr val="1A1A1A"/>
                </a:solidFill>
                <a:latin typeface="Arial"/>
              </a:rPr>
              <a:t>—  NCRB's stated pain is that the data is already on the desk and the links are still missed. Seven source kinds are named in the statement, and there is a handler for all seven.</a:t>
            </a:r>
          </a:p>
          <a:p>
            <a:pPr lvl="1" algn="l" marL="237744" indent="0">
              <a:spcBef>
                <a:spcPts val="300"/>
              </a:spcBef>
              <a:spcAft>
                <a:spcPts val="100"/>
              </a:spcAft>
              <a:buNone/>
            </a:pPr>
            <a:r>
              <a:rPr sz="1100" b="0">
                <a:solidFill>
                  <a:srgbClr val="1A1A1A"/>
                </a:solidFill>
                <a:latin typeface="Arial"/>
              </a:rPr>
              <a:t>—  “Key influencers” is computed, not guessed — betweenness on a person-projected graph, Louvain communities, and hidden brokers ranked person-against-person.</a:t>
            </a:r>
          </a:p>
        </p:txBody>
      </p:sp>
      <p:pic>
        <p:nvPicPr>
          <p:cNvPr id="15364" name="Picture 15363" descr="prototype-chat-and-brain.png"/>
          <p:cNvPicPr>
            <a:picLocks noChangeAspect="1"/>
          </p:cNvPicPr>
          <p:nvPr/>
        </p:nvPicPr>
        <p:blipFill>
          <a:blip r:embed="rId4"/>
          <a:stretch>
            <a:fillRect/>
          </a:stretch>
        </p:blipFill>
        <p:spPr>
          <a:xfrm>
            <a:off x="6720840" y="1792224"/>
            <a:ext cx="5440680" cy="2562731"/>
          </a:xfrm>
          <a:prstGeom prst="rect">
            <a:avLst/>
          </a:prstGeom>
        </p:spPr>
      </p:pic>
      <p:sp>
        <p:nvSpPr>
          <p:cNvPr id="15365" name="TextBox 15364"/>
          <p:cNvSpPr txBox="1"/>
          <p:nvPr/>
        </p:nvSpPr>
        <p:spPr>
          <a:xfrm>
            <a:off x="6720840" y="4391531"/>
            <a:ext cx="5440680" cy="475488"/>
          </a:xfrm>
          <a:prstGeom prst="rect">
            <a:avLst/>
          </a:prstGeom>
          <a:noFill/>
        </p:spPr>
        <p:txBody>
          <a:bodyPr wrap="square" lIns="36576" rIns="36576" tIns="18288" bIns="18288">
            <a:spAutoFit/>
          </a:bodyPr>
          <a:lstStyle/>
          <a:p>
            <a:pPr algn="l" marL="0" indent="0">
              <a:spcBef>
                <a:spcPts val="400"/>
              </a:spcBef>
              <a:spcAft>
                <a:spcPts val="100"/>
              </a:spcAft>
              <a:buNone/>
            </a:pPr>
            <a:r>
              <a:rPr sz="950" b="0">
                <a:solidFill>
                  <a:srgbClr val="3D3D3D"/>
                </a:solidFill>
                <a:latin typeface="Arial"/>
              </a:rPr>
              <a:t>The working prototype — one chat, the case's brain beside it, and the cited source open at its character offsets.</a:t>
            </a:r>
          </a:p>
        </p:txBody>
      </p:sp>
      <p:sp>
        <p:nvSpPr>
          <p:cNvPr id="15366" name="TextBox 15365"/>
          <p:cNvSpPr txBox="1"/>
          <p:nvPr/>
        </p:nvSpPr>
        <p:spPr>
          <a:xfrm>
            <a:off x="6720840" y="4903595"/>
            <a:ext cx="5440680" cy="1387476"/>
          </a:xfrm>
          <a:prstGeom prst="rect">
            <a:avLst/>
          </a:prstGeom>
          <a:noFill/>
        </p:spPr>
        <p:txBody>
          <a:bodyPr wrap="square" lIns="36576" rIns="36576" tIns="18288" bIns="18288">
            <a:spAutoFit/>
          </a:bodyPr>
          <a:lstStyle/>
          <a:p>
            <a:pPr algn="l" marL="91440" indent="0">
              <a:spcBef>
                <a:spcPts val="700"/>
              </a:spcBef>
              <a:spcAft>
                <a:spcPts val="100"/>
              </a:spcAft>
              <a:buNone/>
            </a:pPr>
            <a:r>
              <a:rPr sz="1200" b="1">
                <a:solidFill>
                  <a:srgbClr val="3D3D3D"/>
                </a:solidFill>
                <a:latin typeface="Arial"/>
              </a:rPr>
              <a:t>Innovation and uniqueness of the solution</a:t>
            </a:r>
          </a:p>
          <a:p>
            <a:pPr lvl="1" algn="l" marL="237744" indent="0">
              <a:spcBef>
                <a:spcPts val="300"/>
              </a:spcBef>
              <a:spcAft>
                <a:spcPts val="100"/>
              </a:spcAft>
              <a:buNone/>
            </a:pPr>
            <a:r>
              <a:rPr sz="1050" b="0">
                <a:solidFill>
                  <a:srgbClr val="1A1A1A"/>
                </a:solidFill>
                <a:latin typeface="Arial"/>
              </a:rPr>
              <a:t>—  Not a dashboard — a visualisation cannot be asked anything.</a:t>
            </a:r>
          </a:p>
          <a:p>
            <a:pPr lvl="1" algn="l" marL="237744" indent="0">
              <a:spcBef>
                <a:spcPts val="300"/>
              </a:spcBef>
              <a:spcAft>
                <a:spcPts val="100"/>
              </a:spcAft>
              <a:buNone/>
            </a:pPr>
            <a:r>
              <a:rPr sz="1050" b="0">
                <a:solidFill>
                  <a:srgbClr val="1A1A1A"/>
                </a:solidFill>
                <a:latin typeface="Arial"/>
              </a:rPr>
              <a:t>—  Not a chat with documents in it — the prompt is O(1) in the size of the case.</a:t>
            </a:r>
          </a:p>
          <a:p>
            <a:pPr lvl="1" algn="l" marL="237744" indent="0">
              <a:spcBef>
                <a:spcPts val="300"/>
              </a:spcBef>
              <a:spcAft>
                <a:spcPts val="100"/>
              </a:spcAft>
              <a:buNone/>
            </a:pPr>
            <a:r>
              <a:rPr sz="1050" b="0">
                <a:solidFill>
                  <a:srgbClr val="1A1A1A"/>
                </a:solidFill>
                <a:latin typeface="Arial"/>
              </a:rPr>
              <a:t>—  Isolation by construction: a different case is a different file.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502920" y="1243584"/>
            <a:ext cx="6035040" cy="5047488"/>
          </a:xfrm>
          <a:prstGeom prst="rect">
            <a:avLst/>
          </a:prstGeom>
          <a:noFill/>
          <a:ln w="9525">
            <a:noFill/>
            <a:miter lim="800000"/>
            <a:headEnd/>
            <a:tailEnd/>
          </a:ln>
        </p:spPr>
        <p:txBody>
          <a:bodyPr wrap="square" lIns="36576" rIns="36576" tIns="18288" bIns="18288">
            <a:spAutoFit/>
          </a:bodyPr>
          <a:lstStyle/>
          <a:p>
            <a:pPr marL="0" indent="0" algn="l">
              <a:spcBef>
                <a:spcPts val="800"/>
              </a:spcBef>
              <a:spcAft>
                <a:spcPts val="100"/>
              </a:spcAft>
              <a:buFont typeface="Arial" panose="020B0604020202020204" pitchFamily="34" charset="0"/>
              <a:buNone/>
            </a:pPr>
            <a:r>
              <a:rPr sz="1450" b="1">
                <a:solidFill>
                  <a:srgbClr val="1F3864"/>
                </a:solidFill>
                <a:latin typeface="Arial"/>
              </a:rPr>
              <a:t>Technologies to be used (e.g. programming languages, frameworks, hardware)</a:t>
            </a:r>
          </a:p>
          <a:p>
            <a:pPr lvl="1" algn="l" marL="237744" indent="0">
              <a:spcBef>
                <a:spcPts val="300"/>
              </a:spcBef>
              <a:spcAft>
                <a:spcPts val="100"/>
              </a:spcAft>
              <a:buNone/>
            </a:pPr>
            <a:r>
              <a:rPr sz="1100" b="0">
                <a:solidFill>
                  <a:srgbClr val="1A1A1A"/>
                </a:solidFill>
                <a:latin typeface="Arial"/>
              </a:rPr>
              <a:t>—  Backend — Python 3.11+, FastAPI, SQLite (one file per case), NetworkX, Anthropic API.</a:t>
            </a:r>
          </a:p>
          <a:p>
            <a:pPr lvl="1" algn="l" marL="237744" indent="0">
              <a:spcBef>
                <a:spcPts val="300"/>
              </a:spcBef>
              <a:spcAft>
                <a:spcPts val="100"/>
              </a:spcAft>
              <a:buNone/>
            </a:pPr>
            <a:r>
              <a:rPr sz="1100" b="0">
                <a:solidFill>
                  <a:srgbClr val="1A1A1A"/>
                </a:solidFill>
                <a:latin typeface="Arial"/>
              </a:rPr>
              <a:t>—  Extraction — readers for PDF / CSV / prose, deterministic identifier patterns, cue-based NER, optional spaCy.</a:t>
            </a:r>
          </a:p>
          <a:p>
            <a:pPr lvl="1" algn="l" marL="237744" indent="0">
              <a:spcBef>
                <a:spcPts val="300"/>
              </a:spcBef>
              <a:spcAft>
                <a:spcPts val="100"/>
              </a:spcAft>
              <a:buNone/>
            </a:pPr>
            <a:r>
              <a:rPr sz="1100" b="0">
                <a:solidFill>
                  <a:srgbClr val="1A1A1A"/>
                </a:solidFill>
                <a:latin typeface="Arial"/>
              </a:rPr>
              <a:t>—  Analytics — degree and betweenness centrality, Louvain communities, anomaly and finding detection; seeded and cached.</a:t>
            </a:r>
          </a:p>
          <a:p>
            <a:pPr lvl="1" algn="l" marL="237744" indent="0">
              <a:spcBef>
                <a:spcPts val="300"/>
              </a:spcBef>
              <a:spcAft>
                <a:spcPts val="100"/>
              </a:spcAft>
              <a:buNone/>
            </a:pPr>
            <a:r>
              <a:rPr sz="1100" b="0">
                <a:solidFill>
                  <a:srgbClr val="1A1A1A"/>
                </a:solidFill>
                <a:latin typeface="Arial"/>
              </a:rPr>
              <a:t>—  Interface — React 19, TypeScript, Vite, Tailwind v4, Cytoscape.js, TanStack Query.</a:t>
            </a:r>
          </a:p>
          <a:p>
            <a:pPr lvl="1" algn="l" marL="237744" indent="0">
              <a:spcBef>
                <a:spcPts val="300"/>
              </a:spcBef>
              <a:spcAft>
                <a:spcPts val="100"/>
              </a:spcAft>
              <a:buNone/>
            </a:pPr>
            <a:r>
              <a:rPr sz="1100" b="0">
                <a:solidFill>
                  <a:srgbClr val="1A1A1A"/>
                </a:solidFill>
                <a:latin typeface="Arial"/>
              </a:rPr>
              <a:t>—  Integrity — SHA-256 hash-chained, append-only chain of custody, one per case.</a:t>
            </a:r>
          </a:p>
          <a:p>
            <a:pPr lvl="1" algn="l" marL="237744" indent="0">
              <a:spcBef>
                <a:spcPts val="300"/>
              </a:spcBef>
              <a:spcAft>
                <a:spcPts val="100"/>
              </a:spcAft>
              <a:buNone/>
            </a:pPr>
            <a:r>
              <a:rPr sz="1100" b="0">
                <a:solidFill>
                  <a:srgbClr val="1A1A1A"/>
                </a:solidFill>
                <a:latin typeface="Arial"/>
              </a:rPr>
              <a:t>—  No Neo4j and no cloud graph service: per-case isolation becomes a file rather than a permissions model.</a:t>
            </a:r>
          </a:p>
          <a:p>
            <a:pPr algn="l" marL="54864" indent="0">
              <a:spcBef>
                <a:spcPts val="900"/>
              </a:spcBef>
              <a:spcAft>
                <a:spcPts val="100"/>
              </a:spcAft>
              <a:buNone/>
            </a:pPr>
            <a:r>
              <a:rPr sz="1150" b="1">
                <a:solidFill>
                  <a:srgbClr val="3D3D3D"/>
                </a:solidFill>
                <a:latin typeface="Arial"/>
              </a:rPr>
              <a:t>Working prototype today: 22 case-scoped API endpoints, 38 tests passing, and a demo case of 125 nodes and 1,148 links built from all seven source kinds.</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900" b="1">
                <a:latin typeface="Arial"/>
              </a:rPr>
              <a:t>Suishōdama</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1" name="TextBox 17410"/>
          <p:cNvSpPr txBox="1"/>
          <p:nvPr/>
        </p:nvSpPr>
        <p:spPr>
          <a:xfrm>
            <a:off x="6812280" y="1207008"/>
            <a:ext cx="5029200" cy="566928"/>
          </a:xfrm>
          <a:prstGeom prst="rect">
            <a:avLst/>
          </a:prstGeom>
          <a:noFill/>
        </p:spPr>
        <p:txBody>
          <a:bodyPr wrap="square" lIns="36576" rIns="36576" tIns="18288" bIns="18288">
            <a:spAutoFit/>
          </a:bodyPr>
          <a:lstStyle/>
          <a:p>
            <a:pPr algn="l" marL="0" indent="0">
              <a:spcBef>
                <a:spcPts val="800"/>
              </a:spcBef>
              <a:spcAft>
                <a:spcPts val="100"/>
              </a:spcAft>
              <a:buNone/>
            </a:pPr>
            <a:r>
              <a:rPr sz="1200" b="1">
                <a:solidFill>
                  <a:srgbClr val="1F3864"/>
                </a:solidFill>
                <a:latin typeface="Arial"/>
              </a:rPr>
              <a:t>Methodology and process for implementation (Flow Charts/Images/ working prototype)</a:t>
            </a:r>
          </a:p>
        </p:txBody>
      </p:sp>
      <p:sp>
        <p:nvSpPr>
          <p:cNvPr id="17412" name="Rounded Rectangle 17411"/>
          <p:cNvSpPr/>
          <p:nvPr/>
        </p:nvSpPr>
        <p:spPr>
          <a:xfrm>
            <a:off x="6812280" y="1810512"/>
            <a:ext cx="5029200" cy="551687"/>
          </a:xfrm>
          <a:prstGeom prst="roundRect">
            <a:avLst/>
          </a:prstGeom>
          <a:solidFill>
            <a:srgbClr val="EEF2F8"/>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spcAft>
                <a:spcPts val="0"/>
              </a:spcAft>
            </a:pPr>
            <a:r>
              <a:rPr sz="1000" b="1">
                <a:solidFill>
                  <a:srgbClr val="1F3864"/>
                </a:solidFill>
                <a:latin typeface="Arial"/>
              </a:rPr>
              <a:t>DOCUMENTS</a:t>
            </a:r>
          </a:p>
          <a:p>
            <a:pPr algn="ctr">
              <a:spcBef>
                <a:spcPts val="100"/>
              </a:spcBef>
            </a:pPr>
            <a:r>
              <a:rPr sz="750">
                <a:solidFill>
                  <a:srgbClr val="3D3D3D"/>
                </a:solidFill>
                <a:latin typeface="Arial"/>
              </a:rPr>
              <a:t>FIRs · CDRs · financial · surveillance · social · history · intel</a:t>
            </a:r>
          </a:p>
        </p:txBody>
      </p:sp>
      <p:sp>
        <p:nvSpPr>
          <p:cNvPr id="17413" name="Isosceles Triangle 17412"/>
          <p:cNvSpPr/>
          <p:nvPr/>
        </p:nvSpPr>
        <p:spPr>
          <a:xfrm rot="10800000">
            <a:off x="9244584" y="2380487"/>
            <a:ext cx="164592" cy="100583"/>
          </a:xfrm>
          <a:prstGeom prst="triangl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4" name="Rounded Rectangle 17413"/>
          <p:cNvSpPr/>
          <p:nvPr/>
        </p:nvSpPr>
        <p:spPr>
          <a:xfrm>
            <a:off x="6812280" y="2499360"/>
            <a:ext cx="5029200" cy="551687"/>
          </a:xfrm>
          <a:prstGeom prst="roundRect">
            <a:avLst/>
          </a:prstGeom>
          <a:solidFill>
            <a:srgbClr val="EEF2F8"/>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spcAft>
                <a:spcPts val="0"/>
              </a:spcAft>
            </a:pPr>
            <a:r>
              <a:rPr sz="1000" b="1">
                <a:solidFill>
                  <a:srgbClr val="1F3864"/>
                </a:solidFill>
                <a:latin typeface="Arial"/>
              </a:rPr>
              <a:t>1.  INGEST</a:t>
            </a:r>
          </a:p>
          <a:p>
            <a:pPr algn="ctr">
              <a:spcBef>
                <a:spcPts val="100"/>
              </a:spcBef>
            </a:pPr>
            <a:r>
              <a:rPr sz="750">
                <a:solidFill>
                  <a:srgbClr val="3D3D3D"/>
                </a:solidFill>
                <a:latin typeface="Arial"/>
              </a:rPr>
              <a:t>readers → patterns → NER → pipeline  ·  no model in this path</a:t>
            </a:r>
          </a:p>
        </p:txBody>
      </p:sp>
      <p:sp>
        <p:nvSpPr>
          <p:cNvPr id="17415" name="Isosceles Triangle 17414"/>
          <p:cNvSpPr/>
          <p:nvPr/>
        </p:nvSpPr>
        <p:spPr>
          <a:xfrm rot="10800000">
            <a:off x="9244584" y="3069336"/>
            <a:ext cx="164592" cy="100583"/>
          </a:xfrm>
          <a:prstGeom prst="triangl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6" name="Rounded Rectangle 17415"/>
          <p:cNvSpPr/>
          <p:nvPr/>
        </p:nvSpPr>
        <p:spPr>
          <a:xfrm>
            <a:off x="6812280" y="3188207"/>
            <a:ext cx="5029200" cy="551687"/>
          </a:xfrm>
          <a:prstGeom prst="roundRect">
            <a:avLst/>
          </a:prstGeom>
          <a:solidFill>
            <a:srgbClr val="EEF2F8"/>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spcAft>
                <a:spcPts val="0"/>
              </a:spcAft>
            </a:pPr>
            <a:r>
              <a:rPr sz="1000" b="1">
                <a:solidFill>
                  <a:srgbClr val="1F3864"/>
                </a:solidFill>
                <a:latin typeface="Arial"/>
              </a:rPr>
              <a:t>2.  GRAPH</a:t>
            </a:r>
          </a:p>
          <a:p>
            <a:pPr algn="ctr">
              <a:spcBef>
                <a:spcPts val="100"/>
              </a:spcBef>
            </a:pPr>
            <a:r>
              <a:rPr sz="750">
                <a:solidFill>
                  <a:srgbClr val="3D3D3D"/>
                </a:solidFill>
                <a:latin typeface="Arial"/>
              </a:rPr>
              <a:t>one SQLite file per case  ·  stable ids  ·  idempotent merge</a:t>
            </a:r>
          </a:p>
        </p:txBody>
      </p:sp>
      <p:sp>
        <p:nvSpPr>
          <p:cNvPr id="17417" name="Isosceles Triangle 17416"/>
          <p:cNvSpPr/>
          <p:nvPr/>
        </p:nvSpPr>
        <p:spPr>
          <a:xfrm rot="10800000">
            <a:off x="9244584" y="3758183"/>
            <a:ext cx="164592" cy="100583"/>
          </a:xfrm>
          <a:prstGeom prst="triangl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8" name="Rounded Rectangle 17417"/>
          <p:cNvSpPr/>
          <p:nvPr/>
        </p:nvSpPr>
        <p:spPr>
          <a:xfrm>
            <a:off x="6812280" y="3877055"/>
            <a:ext cx="5029200" cy="551687"/>
          </a:xfrm>
          <a:prstGeom prst="roundRect">
            <a:avLst/>
          </a:prstGeom>
          <a:solidFill>
            <a:srgbClr val="EEF2F8"/>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spcAft>
                <a:spcPts val="0"/>
              </a:spcAft>
            </a:pPr>
            <a:r>
              <a:rPr sz="1000" b="1">
                <a:solidFill>
                  <a:srgbClr val="1F3864"/>
                </a:solidFill>
                <a:latin typeface="Arial"/>
              </a:rPr>
              <a:t>3.  ANALYTICS</a:t>
            </a:r>
          </a:p>
          <a:p>
            <a:pPr algn="ctr">
              <a:spcBef>
                <a:spcPts val="100"/>
              </a:spcBef>
            </a:pPr>
            <a:r>
              <a:rPr sz="750">
                <a:solidFill>
                  <a:srgbClr val="3D3D3D"/>
                </a:solidFill>
                <a:latin typeface="Arial"/>
              </a:rPr>
              <a:t>centrality · Louvain · anomalies · findings the model never invents</a:t>
            </a:r>
          </a:p>
        </p:txBody>
      </p:sp>
      <p:sp>
        <p:nvSpPr>
          <p:cNvPr id="17419" name="Isosceles Triangle 17418"/>
          <p:cNvSpPr/>
          <p:nvPr/>
        </p:nvSpPr>
        <p:spPr>
          <a:xfrm rot="10800000">
            <a:off x="9244584" y="4447031"/>
            <a:ext cx="164592" cy="100583"/>
          </a:xfrm>
          <a:prstGeom prst="triangl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0" name="Rounded Rectangle 17419"/>
          <p:cNvSpPr/>
          <p:nvPr/>
        </p:nvSpPr>
        <p:spPr>
          <a:xfrm>
            <a:off x="6812280" y="4565903"/>
            <a:ext cx="5029200" cy="551687"/>
          </a:xfrm>
          <a:prstGeom prst="roundRect">
            <a:avLst/>
          </a:prstGeom>
          <a:solidFill>
            <a:srgbClr val="EEF2F8"/>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spcAft>
                <a:spcPts val="0"/>
              </a:spcAft>
            </a:pPr>
            <a:r>
              <a:rPr sz="1000" b="1">
                <a:solidFill>
                  <a:srgbClr val="1F3864"/>
                </a:solidFill>
                <a:latin typeface="Arial"/>
              </a:rPr>
              <a:t>4.  AGENT</a:t>
            </a:r>
          </a:p>
          <a:p>
            <a:pPr algn="ctr">
              <a:spcBef>
                <a:spcPts val="100"/>
              </a:spcBef>
            </a:pPr>
            <a:r>
              <a:rPr sz="750">
                <a:solidFill>
                  <a:srgbClr val="3D3D3D"/>
                </a:solidFill>
                <a:latin typeface="Arial"/>
              </a:rPr>
              <a:t>13 tools  ·  decides what to ask the brain, holds none of it</a:t>
            </a:r>
          </a:p>
        </p:txBody>
      </p:sp>
      <p:sp>
        <p:nvSpPr>
          <p:cNvPr id="17421" name="Isosceles Triangle 17420"/>
          <p:cNvSpPr/>
          <p:nvPr/>
        </p:nvSpPr>
        <p:spPr>
          <a:xfrm rot="10800000">
            <a:off x="9244584" y="5135879"/>
            <a:ext cx="164592" cy="100583"/>
          </a:xfrm>
          <a:prstGeom prst="triangl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2" name="Rounded Rectangle 17421"/>
          <p:cNvSpPr/>
          <p:nvPr/>
        </p:nvSpPr>
        <p:spPr>
          <a:xfrm>
            <a:off x="6812280" y="5254751"/>
            <a:ext cx="5029200" cy="551687"/>
          </a:xfrm>
          <a:prstGeom prst="roundRect">
            <a:avLst/>
          </a:prstGeom>
          <a:solidFill>
            <a:srgbClr val="EEF2F8"/>
          </a:solidFill>
          <a:ln w="952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spcAft>
                <a:spcPts val="0"/>
              </a:spcAft>
            </a:pPr>
            <a:r>
              <a:rPr sz="1000" b="1">
                <a:solidFill>
                  <a:srgbClr val="1F3864"/>
                </a:solidFill>
                <a:latin typeface="Arial"/>
              </a:rPr>
              <a:t>5.  ANSWER</a:t>
            </a:r>
          </a:p>
          <a:p>
            <a:pPr algn="ctr">
              <a:spcBef>
                <a:spcPts val="100"/>
              </a:spcBef>
            </a:pPr>
            <a:r>
              <a:rPr sz="750">
                <a:solidFill>
                  <a:srgbClr val="3D3D3D"/>
                </a:solidFill>
                <a:latin typeface="Arial"/>
              </a:rPr>
              <a:t>every citation verified in code  ·  the path lit in the graph</a:t>
            </a:r>
          </a:p>
        </p:txBody>
      </p:sp>
      <p:sp>
        <p:nvSpPr>
          <p:cNvPr id="17423" name="Rounded Rectangle 17422"/>
          <p:cNvSpPr/>
          <p:nvPr/>
        </p:nvSpPr>
        <p:spPr>
          <a:xfrm>
            <a:off x="6812280" y="5943599"/>
            <a:ext cx="5029200" cy="347472"/>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850" b="1">
                <a:solidFill>
                  <a:srgbClr val="FFFFFF"/>
                </a:solidFill>
                <a:latin typeface="Arial"/>
              </a:rPr>
              <a:t>CHAIN OF CUSTODY — hash-linked, append-only, one per case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502920" y="1243584"/>
            <a:ext cx="11201400" cy="5047488"/>
          </a:xfrm>
          <a:prstGeom prst="rect">
            <a:avLst/>
          </a:prstGeom>
          <a:noFill/>
          <a:ln w="9525">
            <a:noFill/>
            <a:miter lim="800000"/>
            <a:headEnd/>
            <a:tailEnd/>
          </a:ln>
        </p:spPr>
        <p:txBody>
          <a:bodyPr wrap="square" lIns="36576" rIns="36576" tIns="18288" bIns="18288">
            <a:spAutoFit/>
          </a:bodyPr>
          <a:lstStyle/>
          <a:p>
            <a:pPr marL="0" marR="0" indent="0" algn="l" defTabSz="457200" rtl="0" eaLnBrk="1" fontAlgn="base" latinLnBrk="0" hangingPunct="1">
              <a:lnSpc>
                <a:spcPct val="100000"/>
              </a:lnSpc>
              <a:spcBef>
                <a:spcPts val="800"/>
              </a:spcBef>
              <a:spcAft>
                <a:spcPts val="100"/>
              </a:spcAft>
              <a:buClrTx/>
              <a:buSzTx/>
              <a:buFont typeface="Arial" panose="020B0604020202020204" pitchFamily="34" charset="0"/>
              <a:tabLst/>
              <a:defRPr/>
              <a:buNone/>
            </a:pPr>
            <a:r>
              <a:rPr sz="1450" b="1">
                <a:solidFill>
                  <a:srgbClr val="1F3864"/>
                </a:solidFill>
                <a:latin typeface="Arial"/>
              </a:rPr>
              <a:t>Analysis of the feasibility of the idea</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lvl="1" algn="l" marL="237744" indent="0">
              <a:spcBef>
                <a:spcPts val="300"/>
              </a:spcBef>
              <a:spcAft>
                <a:spcPts val="100"/>
              </a:spcAft>
              <a:buNone/>
            </a:pPr>
            <a:r>
              <a:rPr sz="1100" b="0">
                <a:solidFill>
                  <a:srgbClr val="1A1A1A"/>
                </a:solidFill>
                <a:latin typeface="Arial"/>
              </a:rPr>
              <a:t>—  Built and running rather than proposed — 38 tests pass, 22 endpoints, 125 nodes and 1,148 links across all seven source kinds.</a:t>
            </a:r>
          </a:p>
          <a:p>
            <a:pPr lvl="1" algn="l" marL="237744" indent="0">
              <a:spcBef>
                <a:spcPts val="300"/>
              </a:spcBef>
              <a:spcAft>
                <a:spcPts val="100"/>
              </a:spcAft>
              <a:buNone/>
            </a:pPr>
            <a:r>
              <a:rPr sz="1100" b="0">
                <a:solidFill>
                  <a:srgbClr val="1A1A1A"/>
                </a:solidFill>
                <a:latin typeface="Arial"/>
              </a:rPr>
              <a:t>—  Ingest is linear and measured — 106 KB of prose in 3.8 s, down from 63 s; a 50,000-row CDR in about 90 s.</a:t>
            </a:r>
          </a:p>
          <a:p>
            <a:pPr lvl="1" algn="l" marL="237744" indent="0">
              <a:spcBef>
                <a:spcPts val="300"/>
              </a:spcBef>
              <a:spcAft>
                <a:spcPts val="100"/>
              </a:spcAft>
              <a:buNone/>
            </a:pPr>
            <a:r>
              <a:rPr sz="1100" b="0">
                <a:solidFill>
                  <a:srgbClr val="1A1A1A"/>
                </a:solidFill>
                <a:latin typeface="Arial"/>
              </a:rPr>
              <a:t>—  Runs on a single machine with no external service — SQLite and NetworkX, nothing to install, authenticate or keep up.</a:t>
            </a:r>
          </a:p>
          <a:p>
            <a:pPr lvl="1" algn="l" marL="237744" indent="0">
              <a:spcBef>
                <a:spcPts val="300"/>
              </a:spcBef>
              <a:spcAft>
                <a:spcPts val="100"/>
              </a:spcAft>
              <a:buNone/>
            </a:pPr>
            <a:r>
              <a:rPr sz="1100" b="0">
                <a:solidFill>
                  <a:srgbClr val="1A1A1A"/>
                </a:solidFill>
                <a:latin typeface="Arial"/>
              </a:rPr>
              <a:t>—  $0.0235 per question, down from $0.10, through prompt caching with the system prompt split into three blocks.</a:t>
            </a:r>
          </a:p>
          <a:p>
            <a:pPr algn="l" marL="0" indent="0">
              <a:spcBef>
                <a:spcPts val="800"/>
              </a:spcBef>
              <a:spcAft>
                <a:spcPts val="100"/>
              </a:spcAft>
              <a:buNone/>
            </a:pPr>
            <a:r>
              <a:rPr sz="1450" b="1">
                <a:solidFill>
                  <a:srgbClr val="1F3864"/>
                </a:solidFill>
                <a:latin typeface="Arial"/>
              </a:rPr>
              <a:t>Potential challenges and risks</a:t>
            </a:r>
          </a:p>
          <a:p>
            <a:pPr lvl="1" algn="l" marL="237744" indent="0">
              <a:spcBef>
                <a:spcPts val="300"/>
              </a:spcBef>
              <a:spcAft>
                <a:spcPts val="100"/>
              </a:spcAft>
              <a:buNone/>
            </a:pPr>
            <a:r>
              <a:rPr sz="1100" b="0">
                <a:solidFill>
                  <a:srgbClr val="1A1A1A"/>
                </a:solidFill>
                <a:latin typeface="Arial"/>
              </a:rPr>
              <a:t>—  Police data cannot leave the premises.</a:t>
            </a:r>
          </a:p>
          <a:p>
            <a:pPr lvl="1" algn="l" marL="237744" indent="0">
              <a:spcBef>
                <a:spcPts val="300"/>
              </a:spcBef>
              <a:spcAft>
                <a:spcPts val="100"/>
              </a:spcAft>
              <a:buNone/>
            </a:pPr>
            <a:r>
              <a:rPr sz="1100" b="0">
                <a:solidFill>
                  <a:srgbClr val="1A1A1A"/>
                </a:solidFill>
                <a:latin typeface="Arial"/>
              </a:rPr>
              <a:t>—  No key or no network means no assistant.</a:t>
            </a:r>
          </a:p>
          <a:p>
            <a:pPr lvl="1" algn="l" marL="237744" indent="0">
              <a:spcBef>
                <a:spcPts val="300"/>
              </a:spcBef>
              <a:spcAft>
                <a:spcPts val="100"/>
              </a:spcAft>
              <a:buNone/>
            </a:pPr>
            <a:r>
              <a:rPr sz="1100" b="0">
                <a:solidFill>
                  <a:srgbClr val="1A1A1A"/>
                </a:solidFill>
                <a:latin typeface="Arial"/>
              </a:rPr>
              <a:t>—  A scanned document has no text layer to read.</a:t>
            </a:r>
          </a:p>
          <a:p>
            <a:pPr lvl="1" algn="l" marL="237744" indent="0">
              <a:spcBef>
                <a:spcPts val="300"/>
              </a:spcBef>
              <a:spcAft>
                <a:spcPts val="100"/>
              </a:spcAft>
              <a:buNone/>
            </a:pPr>
            <a:r>
              <a:rPr sz="1100" b="0">
                <a:solidFill>
                  <a:srgbClr val="1A1A1A"/>
                </a:solidFill>
                <a:latin typeface="Arial"/>
              </a:rPr>
              <a:t>—  An estimate read out as a measurement would mislead an investigation.</a:t>
            </a:r>
          </a:p>
          <a:p>
            <a:pPr algn="l" marL="0" indent="0">
              <a:spcBef>
                <a:spcPts val="800"/>
              </a:spcBef>
              <a:spcAft>
                <a:spcPts val="100"/>
              </a:spcAft>
              <a:buNone/>
            </a:pPr>
            <a:r>
              <a:rPr sz="1450" b="1">
                <a:solidFill>
                  <a:srgbClr val="1F3864"/>
                </a:solidFill>
                <a:latin typeface="Arial"/>
              </a:rPr>
              <a:t>Strategies for overcoming these challenges</a:t>
            </a:r>
          </a:p>
          <a:p>
            <a:pPr lvl="1" algn="l" marL="237744" indent="0">
              <a:spcBef>
                <a:spcPts val="300"/>
              </a:spcBef>
              <a:spcAft>
                <a:spcPts val="100"/>
              </a:spcAft>
              <a:buNone/>
            </a:pPr>
            <a:r>
              <a:rPr sz="1100" b="0">
                <a:solidFill>
                  <a:srgbClr val="1A1A1A"/>
                </a:solidFill>
                <a:latin typeface="Arial"/>
              </a:rPr>
              <a:t>—  The model's whole surface is two functions — an on-premises model drops in untouched, and everything but the assistant already runs with no model at all.</a:t>
            </a:r>
          </a:p>
          <a:p>
            <a:pPr lvl="1" algn="l" marL="237744" indent="0">
              <a:spcBef>
                <a:spcPts val="300"/>
              </a:spcBef>
              <a:spcAft>
                <a:spcPts val="100"/>
              </a:spcAft>
              <a:buNone/>
            </a:pPr>
            <a:r>
              <a:rPr sz="1100" b="0">
                <a:solidFill>
                  <a:srgbClr val="1A1A1A"/>
                </a:solidFill>
                <a:latin typeface="Arial"/>
              </a:rPr>
              <a:t>—  Nothing degrades silently — no fallback, no offline impostor. A degraded system the officer cannot tell from a working one is worse than an outage.</a:t>
            </a:r>
          </a:p>
          <a:p>
            <a:pPr lvl="1" algn="l" marL="237744" indent="0">
              <a:spcBef>
                <a:spcPts val="300"/>
              </a:spcBef>
              <a:spcAft>
                <a:spcPts val="100"/>
              </a:spcAft>
              <a:buNone/>
            </a:pPr>
            <a:r>
              <a:rPr sz="1100" b="0">
                <a:solidFill>
                  <a:srgbClr val="1A1A1A"/>
                </a:solidFill>
                <a:latin typeface="Arial"/>
              </a:rPr>
              <a:t>—  A document that could not be read says so, instead of registering with a green tick, a valid custody entry and zero entities.</a:t>
            </a:r>
          </a:p>
          <a:p>
            <a:pPr lvl="1" algn="l" marL="237744" indent="0">
              <a:spcBef>
                <a:spcPts val="300"/>
              </a:spcBef>
              <a:spcAft>
                <a:spcPts val="100"/>
              </a:spcAft>
              <a:buNone/>
            </a:pPr>
            <a:r>
              <a:rPr sz="1100" b="0">
                <a:solidFill>
                  <a:srgbClr val="1A1A1A"/>
                </a:solidFill>
                <a:latin typeface="Arial"/>
              </a:rPr>
              <a:t>—  Betweenness is exact below 500 projected nodes and estimated above — and the answer says which it used.</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900" b="1">
                <a:latin typeface="Arial"/>
              </a:rPr>
              <a:t>Suishōdama</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502920" y="1243584"/>
            <a:ext cx="11201400" cy="5047488"/>
          </a:xfrm>
          <a:prstGeom prst="rect">
            <a:avLst/>
          </a:prstGeom>
          <a:noFill/>
          <a:ln w="9525">
            <a:noFill/>
            <a:miter lim="800000"/>
            <a:headEnd/>
            <a:tailEnd/>
          </a:ln>
        </p:spPr>
        <p:txBody>
          <a:bodyPr wrap="square" lIns="36576" rIns="36576" tIns="18288" bIns="18288">
            <a:spAutoFit/>
          </a:bodyPr>
          <a:lstStyle/>
          <a:p>
            <a:pPr marL="0" marR="0" indent="0" algn="l" defTabSz="457200" rtl="0" eaLnBrk="1" fontAlgn="base" latinLnBrk="0" hangingPunct="1">
              <a:lnSpc>
                <a:spcPct val="100000"/>
              </a:lnSpc>
              <a:spcBef>
                <a:spcPts val="800"/>
              </a:spcBef>
              <a:spcAft>
                <a:spcPts val="100"/>
              </a:spcAft>
              <a:buClrTx/>
              <a:buSzTx/>
              <a:buFont typeface="Arial" panose="020B0604020202020204" pitchFamily="34" charset="0"/>
              <a:tabLst/>
              <a:defRPr/>
              <a:buNone/>
            </a:pPr>
            <a:r>
              <a:rPr sz="1450" b="1">
                <a:solidFill>
                  <a:srgbClr val="1F3864"/>
                </a:solidFill>
                <a:latin typeface="Arial"/>
              </a:rPr>
              <a:t>Potential impact on the target audience</a:t>
            </a:r>
          </a:p>
          <a:p>
            <a:pPr lvl="1" algn="l" marL="237744" indent="0">
              <a:spcBef>
                <a:spcPts val="300"/>
              </a:spcBef>
              <a:spcAft>
                <a:spcPts val="100"/>
              </a:spcAft>
              <a:buNone/>
            </a:pPr>
            <a:r>
              <a:rPr sz="1100" b="0">
                <a:solidFill>
                  <a:srgbClr val="1A1A1A"/>
                </a:solidFill>
                <a:latin typeface="Arial"/>
              </a:rPr>
              <a:t>—  The connection the officer would never have written down: the most central person in the demo case appears in one document only, a call log, and 22% of every shortest path runs through him.</a:t>
            </a:r>
          </a:p>
          <a:p>
            <a:pPr lvl="1" algn="l" marL="237744" indent="0">
              <a:spcBef>
                <a:spcPts val="300"/>
              </a:spcBef>
              <a:spcAft>
                <a:spcPts val="100"/>
              </a:spcAft>
              <a:buNone/>
            </a:pPr>
            <a:r>
              <a:rPr sz="1100" b="0">
                <a:solidFill>
                  <a:srgbClr val="1A1A1A"/>
                </a:solidFill>
                <a:latin typeface="Arial"/>
              </a:rPr>
              <a:t>—  Asked to volunteer, it named a woman in no FIR and not in the ground-truth file — four Ludhiana towers, three Delhi, in call contact with both principals. A bridge nobody planted.</a:t>
            </a:r>
          </a:p>
          <a:p>
            <a:pPr lvl="1" algn="l" marL="237744" indent="0">
              <a:spcBef>
                <a:spcPts val="300"/>
              </a:spcBef>
              <a:spcAft>
                <a:spcPts val="100"/>
              </a:spcAft>
              <a:buNone/>
            </a:pPr>
            <a:r>
              <a:rPr sz="1100" b="0">
                <a:solidFill>
                  <a:srgbClr val="1A1A1A"/>
                </a:solidFill>
                <a:latin typeface="Arial"/>
              </a:rPr>
              <a:t>—  The engine is crime-type agnostic: nothing in ingest, the graph, analytics or the agent knows what trafficking is, so the same system serves NDPS, financial fraud or organised crime.</a:t>
            </a:r>
          </a:p>
          <a:p>
            <a:pPr algn="l" marL="0" indent="0">
              <a:spcBef>
                <a:spcPts val="800"/>
              </a:spcBef>
              <a:spcAft>
                <a:spcPts val="100"/>
              </a:spcAft>
              <a:buNone/>
            </a:pPr>
            <a:r>
              <a:rPr sz="1450" b="1">
                <a:solidFill>
                  <a:srgbClr val="1F3864"/>
                </a:solidFill>
                <a:latin typeface="Arial"/>
              </a:rPr>
              <a:t>Benefits of the solution (social, economic, environmental, etc.)</a:t>
            </a:r>
          </a:p>
          <a:p>
            <a:pPr lvl="1" algn="l" marL="237744" indent="0">
              <a:spcBef>
                <a:spcPts val="300"/>
              </a:spcBef>
              <a:spcAft>
                <a:spcPts val="100"/>
              </a:spcAft>
              <a:buNone/>
            </a:pPr>
            <a:r>
              <a:rPr sz="1100" b="0">
                <a:solidFill>
                  <a:srgbClr val="1A1A1A"/>
                </a:solidFill>
                <a:latin typeface="Arial"/>
              </a:rPr>
              <a:t>—  Social — for NCRB's Women Safety Division, faster identification of traffickers and repeat offenders, and networks read across a case no officer could hold in his head.</a:t>
            </a:r>
          </a:p>
          <a:p>
            <a:pPr lvl="1" algn="l" marL="237744" indent="0">
              <a:spcBef>
                <a:spcPts val="300"/>
              </a:spcBef>
              <a:spcAft>
                <a:spcPts val="100"/>
              </a:spcAft>
              <a:buNone/>
            </a:pPr>
            <a:r>
              <a:rPr sz="1100" b="0">
                <a:solidFill>
                  <a:srgbClr val="1A1A1A"/>
                </a:solidFill>
                <a:latin typeface="Arial"/>
              </a:rPr>
              <a:t>—  Evidentiary — every claim traceable to a character offset, and a hash-chained custody log means history cannot be quietly rewritten. Break an entry and it names the entry and the reason.</a:t>
            </a:r>
          </a:p>
          <a:p>
            <a:pPr lvl="1" algn="l" marL="237744" indent="0">
              <a:spcBef>
                <a:spcPts val="300"/>
              </a:spcBef>
              <a:spcAft>
                <a:spcPts val="100"/>
              </a:spcAft>
              <a:buNone/>
            </a:pPr>
            <a:r>
              <a:rPr sz="1100" b="0">
                <a:solidFill>
                  <a:srgbClr val="1A1A1A"/>
                </a:solidFill>
                <a:latin typeface="Arial"/>
              </a:rPr>
              <a:t>—  Economic — one machine, no licence, no cluster, no graph-database contract, and $0.0235 a question.</a:t>
            </a:r>
          </a:p>
          <a:p>
            <a:pPr lvl="1" algn="l" marL="237744" indent="0">
              <a:spcBef>
                <a:spcPts val="300"/>
              </a:spcBef>
              <a:spcAft>
                <a:spcPts val="100"/>
              </a:spcAft>
              <a:buNone/>
            </a:pPr>
            <a:r>
              <a:rPr sz="1100" b="0">
                <a:solidFill>
                  <a:srgbClr val="1A1A1A"/>
                </a:solidFill>
                <a:latin typeface="Arial"/>
              </a:rPr>
              <a:t>—  Operational — one chat, learned in seconds by a non-technical user, and knowledge that compounds over months instead of resetting with the thread.</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900" b="1">
                <a:latin typeface="Arial"/>
              </a:rPr>
              <a:t>Suishōdama</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502920" y="1243584"/>
            <a:ext cx="11201400" cy="5047488"/>
          </a:xfrm>
          <a:prstGeom prst="rect">
            <a:avLst/>
          </a:prstGeom>
          <a:noFill/>
          <a:ln w="9525">
            <a:noFill/>
            <a:miter lim="800000"/>
            <a:headEnd/>
            <a:tailEnd/>
          </a:ln>
        </p:spPr>
        <p:txBody>
          <a:bodyPr wrap="square" lIns="36576" rIns="36576" tIns="18288" bIns="18288">
            <a:spAutoFit/>
          </a:bodyPr>
          <a:lstStyle/>
          <a:p>
            <a:pPr marL="0" marR="0" indent="0" algn="l" defTabSz="457200" rtl="0" eaLnBrk="1" fontAlgn="base" latinLnBrk="0" hangingPunct="1">
              <a:lnSpc>
                <a:spcPct val="100000"/>
              </a:lnSpc>
              <a:spcBef>
                <a:spcPts val="800"/>
              </a:spcBef>
              <a:spcAft>
                <a:spcPts val="100"/>
              </a:spcAft>
              <a:buClrTx/>
              <a:buSzTx/>
              <a:buFont typeface="Arial" panose="020B0604020202020204" pitchFamily="34" charset="0"/>
              <a:tabLst/>
              <a:defRPr/>
              <a:buNone/>
            </a:pPr>
            <a:r>
              <a:rPr sz="1450" b="1">
                <a:solidFill>
                  <a:srgbClr val="1F3864"/>
                </a:solidFill>
                <a:latin typeface="Arial"/>
              </a:rPr>
              <a:t>Details / Links of the reference and research work</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lvl="1" algn="l" marL="237744" indent="0">
              <a:spcBef>
                <a:spcPts val="300"/>
              </a:spcBef>
              <a:spcAft>
                <a:spcPts val="100"/>
              </a:spcAft>
              <a:buNone/>
            </a:pPr>
            <a:r>
              <a:rPr sz="1100" b="0">
                <a:solidFill>
                  <a:srgbClr val="1A1A1A"/>
                </a:solidFill>
                <a:latin typeface="Arial"/>
              </a:rPr>
              <a:t>—  Problem statement 26189, Ministry of Home Affairs / NCRB (Women Safety Division) — sih.gov.in/sih2026PS</a:t>
            </a:r>
          </a:p>
          <a:p>
            <a:pPr lvl="1" algn="l" marL="237744" indent="0">
              <a:spcBef>
                <a:spcPts val="300"/>
              </a:spcBef>
              <a:spcAft>
                <a:spcPts val="100"/>
              </a:spcAft>
              <a:buNone/>
            </a:pPr>
            <a:r>
              <a:rPr sz="1100" b="0">
                <a:solidFill>
                  <a:srgbClr val="1A1A1A"/>
                </a:solidFill>
                <a:latin typeface="Arial"/>
              </a:rPr>
              <a:t>—  U. Brandes, “A faster algorithm for betweenness centrality”, Journal of Mathematical Sociology 25(2), 2001 — the centrality measure used to identify key influencers.</a:t>
            </a:r>
          </a:p>
          <a:p>
            <a:pPr lvl="1" algn="l" marL="237744" indent="0">
              <a:spcBef>
                <a:spcPts val="300"/>
              </a:spcBef>
              <a:spcAft>
                <a:spcPts val="100"/>
              </a:spcAft>
              <a:buNone/>
            </a:pPr>
            <a:r>
              <a:rPr sz="1100" b="0">
                <a:solidFill>
                  <a:srgbClr val="1A1A1A"/>
                </a:solidFill>
                <a:latin typeface="Arial"/>
              </a:rPr>
              <a:t>—  V. Blondel et al., “Fast unfolding of communities in large networks”, J. Stat. Mech., 2008 — the Louvain method used for community detection. arxiv.org/abs/0803.0476</a:t>
            </a:r>
          </a:p>
          <a:p>
            <a:pPr lvl="1" algn="l" marL="237744" indent="0">
              <a:spcBef>
                <a:spcPts val="300"/>
              </a:spcBef>
              <a:spcAft>
                <a:spcPts val="100"/>
              </a:spcAft>
              <a:buNone/>
            </a:pPr>
            <a:r>
              <a:rPr sz="1100" b="0">
                <a:solidFill>
                  <a:srgbClr val="1A1A1A"/>
                </a:solidFill>
                <a:latin typeface="Arial"/>
              </a:rPr>
              <a:t>—  NetworkX — graph algorithms and sampled-pivot betweenness. networkx.org</a:t>
            </a:r>
          </a:p>
          <a:p>
            <a:pPr lvl="1" algn="l" marL="237744" indent="0">
              <a:spcBef>
                <a:spcPts val="300"/>
              </a:spcBef>
              <a:spcAft>
                <a:spcPts val="100"/>
              </a:spcAft>
              <a:buNone/>
            </a:pPr>
            <a:r>
              <a:rPr sz="1100" b="0">
                <a:solidFill>
                  <a:srgbClr val="1A1A1A"/>
                </a:solidFill>
                <a:latin typeface="Arial"/>
              </a:rPr>
              <a:t>—  NATO Admiralty Code (source reliability × information credibility) — the grading applied to intelligence reports, discounting what they imply.</a:t>
            </a:r>
          </a:p>
          <a:p>
            <a:pPr lvl="1" algn="l" marL="237744" indent="0">
              <a:spcBef>
                <a:spcPts val="300"/>
              </a:spcBef>
              <a:spcAft>
                <a:spcPts val="100"/>
              </a:spcAft>
              <a:buNone/>
            </a:pPr>
            <a:r>
              <a:rPr sz="1100" b="0">
                <a:solidFill>
                  <a:srgbClr val="1A1A1A"/>
                </a:solidFill>
                <a:latin typeface="Arial"/>
              </a:rPr>
              <a:t>—  FIPS 180-4 (SHA-256) — the hash used for the append-only chain of custody.</a:t>
            </a:r>
          </a:p>
          <a:p>
            <a:pPr lvl="1" algn="l" marL="237744" indent="0">
              <a:spcBef>
                <a:spcPts val="300"/>
              </a:spcBef>
              <a:spcAft>
                <a:spcPts val="100"/>
              </a:spcAft>
              <a:buNone/>
            </a:pPr>
            <a:r>
              <a:rPr sz="1100" b="0">
                <a:solidFill>
                  <a:srgbClr val="1A1A1A"/>
                </a:solidFill>
                <a:latin typeface="Arial"/>
              </a:rPr>
              <a:t>—  Anthropic — tool use and prompt caching. docs.anthropic.com</a:t>
            </a:r>
          </a:p>
          <a:p>
            <a:pPr lvl="1" algn="l" marL="237744" indent="0">
              <a:spcBef>
                <a:spcPts val="300"/>
              </a:spcBef>
              <a:spcAft>
                <a:spcPts val="100"/>
              </a:spcAft>
              <a:buNone/>
            </a:pPr>
            <a:r>
              <a:rPr sz="1100" b="0">
                <a:solidFill>
                  <a:srgbClr val="1A1A1A"/>
                </a:solidFill>
                <a:latin typeface="Arial"/>
              </a:rPr>
              <a:t>—  Cytoscape.js — graph rendering in the browser. js.cytoscape.org</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r>
              <a:rPr sz="900" b="1">
                <a:latin typeface="Arial"/>
              </a:rPr>
              <a:t>Suishōdama</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